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0" b="1">
                <a:solidFill>
                  <a:srgbClr val="1A1A1A"/>
                </a:solidFill>
                <a:latin typeface="Calibri"/>
              </a:defRPr>
            </a:pPr>
            <a:r>
              <a:t>185,000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BBBBBB"/>
                </a:solidFill>
                <a:latin typeface="Calibri"/>
              </a:defRPr>
            </a:pPr>
            <a:r>
              <a:t>Every year, Americans lose a limb.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F6B00"/>
                </a:solidFill>
                <a:latin typeface="Calibri"/>
              </a:defRPr>
            </a:pPr>
            <a:r>
              <a:t>Most of them face it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904" y="4206240"/>
            <a:ext cx="18288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4" y="45720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LOST LIMB RIDERS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92240"/>
            <a:ext cx="1036289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80808"/>
                </a:solidFill>
                <a:latin typeface="Calibri"/>
              </a:defRPr>
            </a:pPr>
            <a:r>
              <a:t>I CAN. I WILL.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CRISIS NO ONE TALKS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64592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29184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3291840" cy="4572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DD3333"/>
                </a:solidFill>
                <a:latin typeface="Calibri"/>
              </a:defRPr>
            </a:pPr>
            <a:r>
              <a:t>185,000+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amputations in the</a:t>
            </a:r>
            <a:br/>
            <a:r>
              <a:t>U.S. every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188720"/>
            <a:ext cx="329184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29184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6B00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of amputees experience</a:t>
            </a:r>
            <a:br/>
            <a:r>
              <a:t>depression or anxiety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188720"/>
            <a:ext cx="329184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188720"/>
            <a:ext cx="3291840" cy="45720"/>
          </a:xfrm>
          <a:prstGeom prst="rect">
            <a:avLst/>
          </a:prstGeom>
          <a:solidFill>
            <a:srgbClr val="FF8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6304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8533"/>
                </a:solidFill>
                <a:latin typeface="Calibri"/>
              </a:defRPr>
            </a:pPr>
            <a:r>
              <a:t>1 in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never meet another</a:t>
            </a:r>
            <a:br/>
            <a:r>
              <a:t>amputee during recovery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685800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31920"/>
            <a:ext cx="6217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The healthcare system treats the wound.</a:t>
            </a:r>
            <a:br/>
            <a:r>
              <a:t>It doesn’t treat the person.</a:t>
            </a:r>
            <a:br/>
            <a:br/>
            <a:r>
              <a:t>Most amputees leave the hospital with a prosthetic</a:t>
            </a:r>
            <a:br/>
            <a:r>
              <a:t>and a pamphlet — and no one to call when it</a:t>
            </a:r>
            <a:br/>
            <a:r>
              <a:t>gets hard. No one who understands.</a:t>
            </a:r>
            <a:br/>
            <a:r>
              <a:t>No one who’s been there.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749039"/>
            <a:ext cx="3840480" cy="2743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023360"/>
            <a:ext cx="32918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80808"/>
                </a:solidFill>
                <a:latin typeface="Calibri"/>
              </a:defRPr>
            </a:pPr>
            <a:r>
              <a:t>“I didn’t know</a:t>
            </a:r>
            <a:br/>
            <a:r>
              <a:t>another amputee.</a:t>
            </a:r>
            <a:br/>
            <a:r>
              <a:t>I had no roadmap.</a:t>
            </a:r>
            <a:br/>
            <a:r>
              <a:t>I had no one.”</a:t>
            </a:r>
            <a:br/>
            <a:br/>
            <a:r>
              <a:t>— John Thompson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6B00"/>
                </a:solidFill>
                <a:latin typeface="Calibri"/>
              </a:defRPr>
            </a:pPr>
            <a:r>
              <a:t>THE MAN BEHIND THE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John Thompson lost his right leg below the knee.</a:t>
            </a:r>
          </a:p>
          <a:p>
            <a:pPr algn="l"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t>The surgery saved his life. But it also dropped him into a world he wasn’t prepared for — hospitals, rehab, phantom pain, prosthetic fittings, and the slow, brutal work of learning to walk again.</a:t>
            </a:r>
          </a:p>
          <a:p>
            <a:pPr algn="l"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t>He didn’t know a single amputee. He’d never seen someone with a prosthetic leg living a full life. He had no community, no guide, no one who truly understood.</a:t>
            </a:r>
          </a:p>
          <a:p>
            <a:pPr algn="l"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Then he found bikers.</a:t>
            </a:r>
          </a:p>
          <a:p>
            <a:pPr algn="l">
              <a:spcAft>
                <a:spcPts val="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t>Not amputees. Just riders who took him in. Who didn’t treat him like he was broken. Who treated him like one of them.</a:t>
            </a:r>
          </a:p>
          <a:p>
            <a:pPr algn="l"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2200" b="1">
                <a:solidFill>
                  <a:srgbClr val="FF6B00"/>
                </a:solidFill>
                <a:latin typeface="Calibri"/>
              </a:defRPr>
            </a:pPr>
            <a:r>
              <a:t>That changed everything.</a:t>
            </a:r>
          </a:p>
          <a:p>
            <a:pPr algn="l">
              <a:spcAft>
                <a:spcPts val="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t>He realized what helped most wasn’t medicine. It was people.</a:t>
            </a:r>
          </a:p>
          <a:p>
            <a:pPr algn="l">
              <a:spcAft>
                <a:spcPts val="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So he built Lost Limb Riders.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731520"/>
            <a:ext cx="4114800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731520"/>
            <a:ext cx="54864" cy="1371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399" y="86868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RIGHT LEG</a:t>
            </a:r>
            <a:br/>
            <a:r>
              <a:t>AMPUTEE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16002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Below the knee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286000"/>
            <a:ext cx="4114800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2286000"/>
            <a:ext cx="54864" cy="1371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399" y="242316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HEART ATTACK</a:t>
            </a:r>
            <a:br/>
            <a:r>
              <a:t>SURVIVOR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399" y="31546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Fought 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840480"/>
            <a:ext cx="4114800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3840480"/>
            <a:ext cx="54864" cy="1371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399" y="397764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CANCER</a:t>
            </a:r>
            <a:br/>
            <a:r>
              <a:t>SURVIVOR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47091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Still standing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5394960"/>
            <a:ext cx="4114800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5394960"/>
            <a:ext cx="54864" cy="1371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9" y="55321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FOUNDER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399" y="6263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Lost Limb Riders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035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6B00"/>
                </a:solidFill>
                <a:latin typeface="Calibri"/>
              </a:defRPr>
            </a:pPr>
            <a:r>
              <a:t>I CAN. I WILL.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5303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731520"/>
            <a:ext cx="9448495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5980176"/>
            <a:ext cx="9448495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8534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F6B00"/>
                </a:solidFill>
                <a:latin typeface="Calibri"/>
              </a:defRPr>
            </a:pPr>
            <a:r>
              <a:t>OUR 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1904" y="1737360"/>
            <a:ext cx="18288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85340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 provide hope, peer support, mentorship,</a:t>
            </a:r>
            <a:br/>
            <a:r>
              <a:t>education, and opportunity to amputees</a:t>
            </a:r>
            <a:br/>
            <a:r>
              <a:t>and people with disabilities.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8534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6B00"/>
                </a:solidFill>
                <a:latin typeface="Calibri"/>
              </a:defRPr>
            </a:pPr>
            <a:r>
              <a:t>No one should have to navigate limb loss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297680"/>
            <a:ext cx="7619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●  Recent amputees (traumatic, medical, or congenital)</a:t>
            </a:r>
          </a:p>
          <a:p>
            <a:pPr algn="ctr"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●  Long-term amputees seeking connection</a:t>
            </a:r>
          </a:p>
          <a:p>
            <a:pPr algn="ctr"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●  Families and caregivers</a:t>
            </a:r>
          </a:p>
          <a:p>
            <a:pPr algn="ctr"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●  Veterans and first responders</a:t>
            </a:r>
          </a:p>
          <a:p>
            <a:pPr algn="ctr"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●  Children and young people with limb differences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3716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6B00"/>
                </a:solidFill>
                <a:latin typeface="Calibri"/>
              </a:defRPr>
            </a:pPr>
            <a:r>
              <a:t>Six programs. One mission. Every dollar counts.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2377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47472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✚  PEER VISITS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Trained amputees visit new</a:t>
            </a:r>
            <a:br/>
            <a:r>
              <a:t>patients in hospitals and</a:t>
            </a:r>
            <a:br/>
            <a:r>
              <a:t>rehab centers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474720" cy="2377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645920"/>
            <a:ext cx="347472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28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✚  GROUP 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46888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Motorcycle rides that build</a:t>
            </a:r>
            <a:br/>
            <a:r>
              <a:t>community, confidence,</a:t>
            </a:r>
            <a:br/>
            <a:r>
              <a:t>and joy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3474720" cy="2377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645920"/>
            <a:ext cx="347472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828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✚  MENTORSHIP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46888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One-on-one matching</a:t>
            </a:r>
            <a:br/>
            <a:r>
              <a:t>between new and</a:t>
            </a:r>
            <a:br/>
            <a:r>
              <a:t>experienced amputees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3474720" cy="2377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347472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✚  ANNUAL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206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Fundraising ride and</a:t>
            </a:r>
            <a:br/>
            <a:r>
              <a:t>community celebration</a:t>
            </a:r>
            <a:br/>
            <a:r>
              <a:t>in Iowa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297680"/>
            <a:ext cx="3474720" cy="2377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4297680"/>
            <a:ext cx="347472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✚  ADVOCACY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1206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Raising awareness for</a:t>
            </a:r>
            <a:br/>
            <a:r>
              <a:t>amputees and people</a:t>
            </a:r>
            <a:br/>
            <a:r>
              <a:t>with disabilities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297680"/>
            <a:ext cx="3474720" cy="2377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4297680"/>
            <a:ext cx="347472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4480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✚  SCHOLARSHIPS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1206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Funding rehab, therapy,</a:t>
            </a:r>
            <a:br/>
            <a:r>
              <a:t>and vocational training</a:t>
            </a:r>
            <a:br/>
            <a:r>
              <a:t>when insurance falls short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3716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6B00"/>
                </a:solidFill>
                <a:latin typeface="Calibri"/>
              </a:defRPr>
            </a:pPr>
            <a:r>
              <a:t>An annual ride. A community event. A celebration of life after limb loss.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●  Scenic motorcycle ride — amputees, bikers, families, everyone</a:t>
            </a:r>
          </a:p>
          <a:p>
            <a:pPr algn="l"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●  Community gathering with food, music, and kids’ activities</a:t>
            </a:r>
          </a:p>
          <a:p>
            <a:pPr algn="l"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●  Vendor booths: prosthetics, adaptive equipment, disability services</a:t>
            </a:r>
          </a:p>
          <a:p>
            <a:pPr algn="l"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●  Live amputee testimonials — real stories, real strength</a:t>
            </a:r>
          </a:p>
          <a:p>
            <a:pPr algn="l"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●  Healthcare provider connections and resources</a:t>
            </a:r>
          </a:p>
          <a:p>
            <a:pPr algn="l">
              <a:spcAft>
                <a:spcPts val="14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●  Sponsorship and partnership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97280"/>
            <a:ext cx="4389120" cy="5303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097280"/>
            <a:ext cx="438912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FF6B00"/>
                </a:solidFill>
                <a:latin typeface="Calibri"/>
              </a:defRPr>
            </a:pPr>
            <a:r>
              <a:t>WHY IOWA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011680"/>
            <a:ext cx="146304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37744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Iowa is home.</a:t>
            </a:r>
          </a:p>
          <a:p>
            <a:pPr algn="l">
              <a:spcAft>
                <a:spcPts val="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t>It is where John rebuilt his life. It is where the need exists — in cities and rural towns, in hospitals and homes, across every age group.</a:t>
            </a:r>
          </a:p>
          <a:p>
            <a:pPr algn="l">
              <a:spcAft>
                <a:spcPts val="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t>Iowa has a strong tradition of community and generosity. Lost Limb Riders will be another expression of that tradition.</a:t>
            </a:r>
          </a:p>
          <a:p>
            <a:pPr algn="l">
              <a:spcAft>
                <a:spcPts val="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500" b="1">
                <a:solidFill>
                  <a:srgbClr val="FF6B00"/>
                </a:solidFill>
                <a:latin typeface="Calibri"/>
              </a:defRPr>
            </a:pPr>
            <a:r>
              <a:t>The goal: grow every year until every amputee in Iowa knows Lost Limb Riders exists — and that they have a place with 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WHERE YOUR SUPPORT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8288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Every dollar goes directly toward serving amputees and people with disabilities.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79192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7919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783080"/>
            <a:ext cx="548640" cy="54864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2404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6B00"/>
                </a:solidFill>
                <a:latin typeface="Calibri"/>
              </a:defRPr>
            </a:pPr>
            <a:r>
              <a:t>PROSTHETIC</a:t>
            </a:r>
            <a:br/>
            <a:r>
              <a:t>ASSISTANCE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24048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Components, maintenance,</a:t>
            </a:r>
            <a:br/>
            <a:r>
              <a:t>and upgrades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554480"/>
            <a:ext cx="2679192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1554480"/>
            <a:ext cx="267919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16552" y="1783080"/>
            <a:ext cx="548640" cy="54864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468880"/>
            <a:ext cx="2404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6B00"/>
                </a:solidFill>
                <a:latin typeface="Calibri"/>
              </a:defRPr>
            </a:pPr>
            <a:r>
              <a:t>ADAPTIVE</a:t>
            </a:r>
            <a:br/>
            <a:r>
              <a:t>EQUIPMENT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063240"/>
            <a:ext cx="24048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Modified tools, vehicle</a:t>
            </a:r>
            <a:br/>
            <a:r>
              <a:t>adaptations, home mods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3368" y="1554480"/>
            <a:ext cx="2679192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73368" y="1554480"/>
            <a:ext cx="267919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79208" y="1783080"/>
            <a:ext cx="548640" cy="54864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468880"/>
            <a:ext cx="2404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6B00"/>
                </a:solidFill>
                <a:latin typeface="Calibri"/>
              </a:defRPr>
            </a:pPr>
            <a:r>
              <a:t>TRANSPORTATION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63240"/>
            <a:ext cx="24048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Rides to medical</a:t>
            </a:r>
            <a:br/>
            <a:r>
              <a:t>appointments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554480"/>
            <a:ext cx="2679192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554480"/>
            <a:ext cx="267919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0" y="1783080"/>
            <a:ext cx="548640" cy="54864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2468880"/>
            <a:ext cx="2404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6B00"/>
                </a:solidFill>
                <a:latin typeface="Calibri"/>
              </a:defRPr>
            </a:pPr>
            <a:r>
              <a:t>EMERGENCY</a:t>
            </a:r>
            <a:br/>
            <a:r>
              <a:t>ASSISTANCE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063240"/>
            <a:ext cx="24048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Unexpected financial</a:t>
            </a:r>
            <a:br/>
            <a:r>
              <a:t>hardships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09928" y="3931920"/>
            <a:ext cx="2679192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09928" y="3931920"/>
            <a:ext cx="267919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15768" y="4160520"/>
            <a:ext cx="548640" cy="54864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47088" y="4846320"/>
            <a:ext cx="2404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6B00"/>
                </a:solidFill>
                <a:latin typeface="Calibri"/>
              </a:defRPr>
            </a:pPr>
            <a:r>
              <a:t>PEER</a:t>
            </a:r>
            <a:br/>
            <a:r>
              <a:t>MENTORING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47088" y="5440680"/>
            <a:ext cx="24048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Training and coordination</a:t>
            </a:r>
            <a:br/>
            <a:r>
              <a:t>for mentors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931920"/>
            <a:ext cx="2679192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3931920"/>
            <a:ext cx="267919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0" y="4160520"/>
            <a:ext cx="548640" cy="54864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4846320"/>
            <a:ext cx="2404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6B00"/>
                </a:solidFill>
                <a:latin typeface="Calibri"/>
              </a:defRPr>
            </a:pPr>
            <a:r>
              <a:t>EDUCATIONAL</a:t>
            </a:r>
            <a:br/>
            <a:r>
              <a:t>PROGRAMS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440680"/>
            <a:ext cx="24048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Prosthetic care, adaptive</a:t>
            </a:r>
            <a:br/>
            <a:r>
              <a:t>living, mental health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16952" y="3931920"/>
            <a:ext cx="2679192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16952" y="3931920"/>
            <a:ext cx="267919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22792" y="4160520"/>
            <a:ext cx="548640" cy="54864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54112" y="4846320"/>
            <a:ext cx="2404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6B00"/>
                </a:solidFill>
                <a:latin typeface="Calibri"/>
              </a:defRPr>
            </a:pPr>
            <a:r>
              <a:t>REHAB</a:t>
            </a:r>
            <a:br/>
            <a:r>
              <a:t>SCHOLARSHIPS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4112" y="5440680"/>
            <a:ext cx="24048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PT, OT, counseling,</a:t>
            </a:r>
            <a:br/>
            <a:r>
              <a:t>vocational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WE’RE ASKING FOR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8288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6B00"/>
                </a:solidFill>
                <a:latin typeface="Calibri"/>
              </a:defRPr>
            </a:pPr>
            <a:r>
              <a:t>John has the vision. He’s looking for people who’ve built this before.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B00"/>
                </a:solidFill>
                <a:latin typeface="Calibri"/>
              </a:defRPr>
            </a:pPr>
            <a:r>
              <a:t>WE’RE ASKING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13716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✔  Mentorship from experienced nonprofit leaders</a:t>
            </a:r>
          </a:p>
          <a:p>
            <a:pPr algn="l">
              <a:spcAft>
                <a:spcPts val="16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✔  Guidance on governance and event planning</a:t>
            </a:r>
          </a:p>
          <a:p>
            <a:pPr algn="l">
              <a:spcAft>
                <a:spcPts val="16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✔  Partnerships with hospitals and providers</a:t>
            </a:r>
          </a:p>
          <a:p>
            <a:pPr algn="l">
              <a:spcAft>
                <a:spcPts val="16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✔  Connections to community networks and media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303520" cy="5486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555555"/>
                </a:solidFill>
                <a:latin typeface="Calibri"/>
              </a:defRPr>
            </a:pPr>
            <a:r>
              <a:t>WE’RE NOT ASKING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606040"/>
            <a:ext cx="1371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BBBBBB"/>
                </a:solidFill>
                <a:latin typeface="Calibri"/>
              </a:defRPr>
            </a:pPr>
            <a:r>
              <a:t>Anyone to take over our mission.</a:t>
            </a:r>
          </a:p>
          <a:p>
            <a:pPr algn="l">
              <a:spcAft>
                <a:spcPts val="0"/>
              </a:spcAft>
              <a:defRPr sz="800" b="0">
                <a:solidFill>
                  <a:srgbClr val="BBBBBB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700" b="0">
                <a:solidFill>
                  <a:srgbClr val="BBBBBB"/>
                </a:solidFill>
                <a:latin typeface="Calibri"/>
              </a:defRPr>
            </a:pPr>
            <a:r>
              <a:t>This is John’s vision, John’s story, and John’s organization.</a:t>
            </a:r>
          </a:p>
          <a:p>
            <a:pPr algn="l">
              <a:spcAft>
                <a:spcPts val="0"/>
              </a:spcAft>
              <a:defRPr sz="800" b="0">
                <a:solidFill>
                  <a:srgbClr val="BBBBBB"/>
                </a:solidFill>
                <a:latin typeface="Calibri"/>
              </a:defRPr>
            </a:pPr>
          </a:p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We want guidance from people who know what it takes to turn a mission into a movement.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GET INVOLVED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3716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88720"/>
            <a:ext cx="338328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338328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B00"/>
                </a:solidFill>
                <a:latin typeface="Calibri"/>
              </a:defRPr>
            </a:pPr>
            <a:r>
              <a:t>VOLUNTEER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Peer visits, events,</a:t>
            </a:r>
            <a:br/>
            <a:r>
              <a:t>administration, outreach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38328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38328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B00"/>
                </a:solidFill>
                <a:latin typeface="Calibri"/>
              </a:defRPr>
            </a:pPr>
            <a:r>
              <a:t>SPONSOR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Businesses sponsor</a:t>
            </a:r>
            <a:br/>
            <a:r>
              <a:t>rides, events, programs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188720"/>
            <a:ext cx="338328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188720"/>
            <a:ext cx="338328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3716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B00"/>
                </a:solidFill>
                <a:latin typeface="Calibri"/>
              </a:defRPr>
            </a:pPr>
            <a:r>
              <a:t>DONATE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Prosthetics, equipment,</a:t>
            </a:r>
            <a:br/>
            <a:r>
              <a:t>transportation, scholarships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703320"/>
            <a:ext cx="338328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338328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B00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Join the planning</a:t>
            </a:r>
            <a:br/>
            <a:r>
              <a:t>committee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03320"/>
            <a:ext cx="338328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03320"/>
            <a:ext cx="338328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8862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B00"/>
                </a:solidFill>
                <a:latin typeface="Calibri"/>
              </a:defRPr>
            </a:pPr>
            <a:r>
              <a:t>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0916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Tell people about</a:t>
            </a:r>
            <a:br/>
            <a:r>
              <a:t>Lost Limb Riders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3703320"/>
            <a:ext cx="338328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703320"/>
            <a:ext cx="338328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8862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B00"/>
                </a:solidFill>
                <a:latin typeface="Calibri"/>
              </a:defRPr>
            </a:pPr>
            <a:r>
              <a:t>REFER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70916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Connect amputees</a:t>
            </a:r>
            <a:br/>
            <a:r>
              <a:t>who need community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0" b="1">
                <a:solidFill>
                  <a:srgbClr val="1A1A1A"/>
                </a:solidFill>
                <a:latin typeface="Calibri"/>
              </a:defRPr>
            </a:pPr>
            <a:r>
              <a:t>I CAN.</a:t>
            </a:r>
            <a:br/>
            <a:r>
              <a:t>I WILL.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0">
                <a:solidFill>
                  <a:srgbClr val="BBBBBB"/>
                </a:solidFill>
                <a:latin typeface="Calibri"/>
              </a:defRPr>
            </a:pPr>
            <a:r>
              <a:t>“Losing a limb doesn’t mean losing your future.</a:t>
            </a:r>
            <a:br/>
            <a:r>
              <a:t>Sometimes it simply means discovering a different road</a:t>
            </a:r>
            <a:br/>
            <a:r>
              <a:t>to travel — and no one should have to travel it alone.”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904" y="3017520"/>
            <a:ext cx="18288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400" b="1">
                <a:solidFill>
                  <a:srgbClr val="FF6B00"/>
                </a:solidFill>
                <a:latin typeface="Calibri"/>
              </a:defRPr>
            </a:pPr>
            <a:r>
              <a:t>I CAN. I WILL.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4" y="45720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John Thompson  ·  514 N 6th St, Fort Dodge, IA 50501  ·  515-890-5765  ·  general_llr@outlook.com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1036289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80808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